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6a99985bae4b0e" /><Relationship Type="http://schemas.openxmlformats.org/officeDocument/2006/relationships/extended-properties" Target="/docProps/app.xml" Id="Refa462f9acc44542" /><Relationship Type="http://schemas.openxmlformats.org/officeDocument/2006/relationships/officeDocument" Target="/ppt/presentation.xml" Id="Rfee28b57d37748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2e7cb749834f0b"/>
  </p:sldMasterIdLst>
  <p:notesMasterIdLst>
    <p:notesMasterId xmlns:r="http://schemas.openxmlformats.org/officeDocument/2006/relationships" r:id="R825db6aba3f1423c"/>
  </p:notesMasterIdLst>
  <p:sldIdLst>
    <p:sldId xmlns:r="http://schemas.openxmlformats.org/officeDocument/2006/relationships" id="256" r:id="R709053dbbd6742c0"/>
    <p:sldId xmlns:r="http://schemas.openxmlformats.org/officeDocument/2006/relationships" id="257" r:id="R991dc91dbebf4628"/>
    <p:sldId xmlns:r="http://schemas.openxmlformats.org/officeDocument/2006/relationships" id="258" r:id="R4621743d9778455f"/>
    <p:sldId xmlns:r="http://schemas.openxmlformats.org/officeDocument/2006/relationships" id="259" r:id="R7ed2703dd9dd4673"/>
    <p:sldId xmlns:r="http://schemas.openxmlformats.org/officeDocument/2006/relationships" id="260" r:id="Ra972c99fef0b4ff9"/>
    <p:sldId xmlns:r="http://schemas.openxmlformats.org/officeDocument/2006/relationships" id="261" r:id="Rb72f14dfa4c84564"/>
    <p:sldId xmlns:r="http://schemas.openxmlformats.org/officeDocument/2006/relationships" id="262" r:id="R1b9eb14a6d494835"/>
    <p:sldId xmlns:r="http://schemas.openxmlformats.org/officeDocument/2006/relationships" id="263" r:id="Rbed677d214ed455c"/>
    <p:sldId xmlns:r="http://schemas.openxmlformats.org/officeDocument/2006/relationships" id="264" r:id="R42194c6d60c74a74"/>
    <p:sldId xmlns:r="http://schemas.openxmlformats.org/officeDocument/2006/relationships" id="265" r:id="R057773e440b04d4e"/>
    <p:sldId xmlns:r="http://schemas.openxmlformats.org/officeDocument/2006/relationships" id="266" r:id="Rbd3f7a6f98dd4346"/>
    <p:sldId xmlns:r="http://schemas.openxmlformats.org/officeDocument/2006/relationships" id="267" r:id="R829fca06a6d84d5b"/>
    <p:sldId xmlns:r="http://schemas.openxmlformats.org/officeDocument/2006/relationships" id="268" r:id="Rda193762b10245e1"/>
    <p:sldId xmlns:r="http://schemas.openxmlformats.org/officeDocument/2006/relationships" id="269" r:id="R10bf053a43054b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cc65f4354a49d3" /><Relationship Type="http://schemas.openxmlformats.org/officeDocument/2006/relationships/slideMaster" Target="/ppt/slideMasters/slideMaster1.xml" Id="R982e7cb749834f0b" /><Relationship Type="http://schemas.openxmlformats.org/officeDocument/2006/relationships/notesMaster" Target="/ppt/notesMasters/notesMaster1.xml" Id="R825db6aba3f1423c" /><Relationship Type="http://schemas.openxmlformats.org/officeDocument/2006/relationships/presProps" Target="/ppt/presProps.xml" Id="Rac3bff4b125c4544" /><Relationship Type="http://schemas.openxmlformats.org/officeDocument/2006/relationships/tableStyles" Target="/ppt/tableStyles.xml" Id="R18b819a2692f4c06" /><Relationship Type="http://schemas.openxmlformats.org/officeDocument/2006/relationships/slide" Target="/ppt/slides/slide1.xml" Id="R709053dbbd6742c0" /><Relationship Type="http://schemas.openxmlformats.org/officeDocument/2006/relationships/slide" Target="/ppt/slides/slide2.xml" Id="R991dc91dbebf4628" /><Relationship Type="http://schemas.openxmlformats.org/officeDocument/2006/relationships/slide" Target="/ppt/slides/slide3.xml" Id="R4621743d9778455f" /><Relationship Type="http://schemas.openxmlformats.org/officeDocument/2006/relationships/slide" Target="/ppt/slides/slide4.xml" Id="R7ed2703dd9dd4673" /><Relationship Type="http://schemas.openxmlformats.org/officeDocument/2006/relationships/slide" Target="/ppt/slides/slide5.xml" Id="Ra972c99fef0b4ff9" /><Relationship Type="http://schemas.openxmlformats.org/officeDocument/2006/relationships/slide" Target="/ppt/slides/slide6.xml" Id="Rb72f14dfa4c84564" /><Relationship Type="http://schemas.openxmlformats.org/officeDocument/2006/relationships/slide" Target="/ppt/slides/slide7.xml" Id="R1b9eb14a6d494835" /><Relationship Type="http://schemas.openxmlformats.org/officeDocument/2006/relationships/slide" Target="/ppt/slides/slide8.xml" Id="Rbed677d214ed455c" /><Relationship Type="http://schemas.openxmlformats.org/officeDocument/2006/relationships/slide" Target="/ppt/slides/slide9.xml" Id="R42194c6d60c74a74" /><Relationship Type="http://schemas.openxmlformats.org/officeDocument/2006/relationships/slide" Target="/ppt/slides/slide10.xml" Id="R057773e440b04d4e" /><Relationship Type="http://schemas.openxmlformats.org/officeDocument/2006/relationships/slide" Target="/ppt/slides/slide11.xml" Id="Rbd3f7a6f98dd4346" /><Relationship Type="http://schemas.openxmlformats.org/officeDocument/2006/relationships/slide" Target="/ppt/slides/slide12.xml" Id="R829fca06a6d84d5b" /><Relationship Type="http://schemas.openxmlformats.org/officeDocument/2006/relationships/slide" Target="/ppt/slides/slide13.xml" Id="Rda193762b10245e1" /><Relationship Type="http://schemas.openxmlformats.org/officeDocument/2006/relationships/slide" Target="/ppt/slides/slide14.xml" Id="R10bf053a43054b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fca86efb1041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97bbb0ba2545a2" /><Relationship Type="http://schemas.openxmlformats.org/officeDocument/2006/relationships/notesMaster" Target="/ppt/notesMasters/notesMaster1.xml" Id="R26c9e1e9683b4e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93b772c70d49b2" /><Relationship Type="http://schemas.openxmlformats.org/officeDocument/2006/relationships/notesMaster" Target="/ppt/notesMasters/notesMaster1.xml" Id="R81e49fcea9594b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99912cffa0445c" /><Relationship Type="http://schemas.openxmlformats.org/officeDocument/2006/relationships/notesMaster" Target="/ppt/notesMasters/notesMaster1.xml" Id="Rd7c7e823ec2041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a15f18157f4125" /><Relationship Type="http://schemas.openxmlformats.org/officeDocument/2006/relationships/notesMaster" Target="/ppt/notesMasters/notesMaster1.xml" Id="Re1f6bd41caa049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a8a4fe801b41cf" /><Relationship Type="http://schemas.openxmlformats.org/officeDocument/2006/relationships/notesMaster" Target="/ppt/notesMasters/notesMaster1.xml" Id="R9283cd985eb744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613e0cd0094f3a" /><Relationship Type="http://schemas.openxmlformats.org/officeDocument/2006/relationships/notesMaster" Target="/ppt/notesMasters/notesMaster1.xml" Id="R69612e50503542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ce48bffb3a4573" /><Relationship Type="http://schemas.openxmlformats.org/officeDocument/2006/relationships/notesMaster" Target="/ppt/notesMasters/notesMaster1.xml" Id="R0b396840cd0143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6a3a1e05834888" /><Relationship Type="http://schemas.openxmlformats.org/officeDocument/2006/relationships/notesMaster" Target="/ppt/notesMasters/notesMaster1.xml" Id="R968457d5fcf149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c6f5d32b224551" /><Relationship Type="http://schemas.openxmlformats.org/officeDocument/2006/relationships/notesMaster" Target="/ppt/notesMasters/notesMaster1.xml" Id="Rd783c4413eae44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8706cdf2f145a8" /><Relationship Type="http://schemas.openxmlformats.org/officeDocument/2006/relationships/notesMaster" Target="/ppt/notesMasters/notesMaster1.xml" Id="Rc3ea78c2e6d14e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c7479c894843af" /><Relationship Type="http://schemas.openxmlformats.org/officeDocument/2006/relationships/notesMaster" Target="/ppt/notesMasters/notesMaster1.xml" Id="R46a85610b4ba42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475adc606e4a55" /><Relationship Type="http://schemas.openxmlformats.org/officeDocument/2006/relationships/notesMaster" Target="/ppt/notesMasters/notesMaster1.xml" Id="R8dbc93da006244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57e8245b564d2b" /><Relationship Type="http://schemas.openxmlformats.org/officeDocument/2006/relationships/notesMaster" Target="/ppt/notesMasters/notesMaster1.xml" Id="Rb6b51321aed94e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44feae3f8d45c5" /><Relationship Type="http://schemas.openxmlformats.org/officeDocument/2006/relationships/notesMaster" Target="/ppt/notesMasters/notesMaster1.xml" Id="R51a37983e23f48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自治体への初回相談用。提案者はdachone-sys。画像はAI生成の架空の設置構想。現地改善率と設置可否は未検証。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道路交通法第33条には踏切での停止・安全確認と、交通信号機に従う場合の停止義務の例外があります。通知表示器だけでは例外になりません。警報・遮断中は進入できません。</a:t>
            </a:r>
          </a:p>
          <a:p xmlns:a="http://schemas.openxmlformats.org/drawingml/2006/main">
            <a:r>
              <a:t>出典 https://laws.e-gov.go.jp/law/335AC0000000105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踏切入口側の独立した門型構造を提案。電柱には設置しない。両方向の進入側に表示面を設ける案。線路上の架線支持物との共用・既存警報機への取付けは構造と管理者の承認を要する。画像は寸法設計ではない。</a:t>
            </a:r>
          </a:p>
          <a:p xmlns:a="http://schemas.openxmlformats.org/drawingml/2006/main">
            <a:r>
              <a:t>国交省の道路標識解説は門型などの高さを標準5.0m、少なくとも4.7mとしている。今回の機器の適用条件や鉄道との離隔は別途確認。</a:t>
            </a:r>
          </a:p>
          <a:p xmlns:a="http://schemas.openxmlformats.org/drawingml/2006/main">
            <a:r>
              <a:t>出典 https://www.mlit.go.jp/road/sign/annai/setting02.htm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色は補助で、文字を主表示とする。法定信号機と混同しない形状・配置を警察と確認。秒数は列車到来までの予測であり、警報開始までの秒数と異なる。35秒前警報・さらに30秒前から停止は仮定。安全用の停止時点は最早到来、誤差、必要な退出時間を評価して設計する。単なるダイヤのタイマーを保安制御に用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公式発車ダイヤ40件は駅の時刻表抜粋。踏切を通る全列車を網羅しない。駅から踏切までの時間や遅延、実際の警報・遮断時刻は未実測。ODPT未登録、リアルタイム接続は未実施。</a:t>
            </a:r>
          </a:p>
          <a:p xmlns:a="http://schemas.openxmlformats.org/drawingml/2006/main">
            <a:r>
              <a:t>出典 https://www.odakyu.jp/station/ebina/timetable_up_weekday.pdf</a:t>
            </a:r>
          </a:p>
          <a:p xmlns:a="http://schemas.openxmlformats.org/drawingml/2006/main">
            <a:r>
              <a:t>https://www.odakyu.jp/station/ebina/timetable_up_holiday.pdf</a:t>
            </a:r>
          </a:p>
          <a:p xmlns:a="http://schemas.openxmlformats.org/drawingml/2006/main">
            <a:r>
              <a:t>https://www.odakyu.jp/station/zama/timetable_down_weekday.pdf</a:t>
            </a:r>
          </a:p>
          <a:p xmlns:a="http://schemas.openxmlformats.org/drawingml/2006/main">
            <a:r>
              <a:t>https://www.odakyu.jp/station/zama/timetable_down_holiday.pdf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独自の流体車列モデル。片方向需要600台/時、停止車頭時間5秒、徐行3秒、周期240秒、閉鎖45秒、予告停止30秒、観測60分、初期車列0。現行61.00625秒、予告8.15625秒、差52.85秒、比86.63%。平均遅れは車列面積を全到着台数600で割る。期間後の残留車の将来遅れと個々の減速発進損失を含ま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じモデルの感度分析。需要300台/時の3秒車頭時間は現行7.03125、予告5.53125。600台/時3秒は61.00625と8.15625。600台/時5秒は現行と予告が一致。車頭時間が停止と同じなら容量は増えない。出口詰まりや歩行者の制約も効果を下げ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黒沢踏切、秋田県由利本荘市、由利高原鉄道、国道108号、道路管理者秋田県。公表の列車本数28本/日。対策完了H30年度。渋滞長1.3km(H26)から0m(H30)、旅行速度12から40km/h。右折レーンを併せて整備しているため、単独の予告装置の効果としない。前後の需要等の詳しい測定条件は追加確認が必要。</a:t>
            </a:r>
          </a:p>
          <a:p xmlns:a="http://schemas.openxmlformats.org/drawingml/2006/main">
            <a:r>
              <a:t>出典 https://www.mlit.go.jp/road/sisaku/fumikiri/pdf/jirei_03.pdf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窓口と電話は2026年10月10日に公式サイト確認。海老名市道路管理課維持補修係046-235-9386、県東部センター安全施設班0467-79-2851、警察交通規制課代表045-211-1212。小田急は公式お問い合わせから担当への取次ぎを依頼。窓口は計画への賛同・採択・許可を意味しない。</a:t>
            </a:r>
          </a:p>
          <a:p xmlns:a="http://schemas.openxmlformats.org/drawingml/2006/main">
            <a:r>
              <a:t>https://www.city.ebina.kanagawa.jp/shisei/soshiki/soshiki/machidukuri/1006904.html</a:t>
            </a:r>
          </a:p>
          <a:p xmlns:a="http://schemas.openxmlformats.org/drawingml/2006/main">
            <a:r>
              <a:t>https://www.pref.kanagawa.jp/docs/hn6/kanri/choshaannai.html</a:t>
            </a:r>
          </a:p>
          <a:p xmlns:a="http://schemas.openxmlformats.org/drawingml/2006/main">
            <a:r>
              <a:t>https://www.police.pref.kanagawa.jp/kotsu/kotsu_iken/mesf1017.html</a:t>
            </a:r>
          </a:p>
          <a:p xmlns:a="http://schemas.openxmlformats.org/drawingml/2006/main">
            <a:r>
              <a:t>https://www.odakyu.jp/help/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海老名の候補を自治体と絞る。座間14号周辺は複数踏切や交差点の影響を検討すべき場所で、単一踏切モデルをそのまま適用しない。小規模自治体でも管理・交通条件は同様に確認。候補選定の判断条件は提案者の提案であ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案としての段階計画。未合意の日程を確約しない。公道では現在の交通ルールを守った観測のみ先行。実際の安全表示は鉄道保安情報や現地検知と整合させる。一般公開APIだけで通行判断はしない。許可・データ協定・責任と保険・施工計画・保守体制の合意が必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分程度の打合せという提案。市の許可や受入れは未取得。候補地の選定と道路管理者・鉄道・警察への協議窓口を尋ねる。施工・交通ルール変更を初回から求めるより観測の共同検討を依頼する。相談文は別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金額は未見積。現地条件、門型構造と基礎、情報連携、交通規制、保守が必要なためソフトPoC費用と設置工事費を混同しない。提案者がソフトを担当できても保安・構造設計の専門組織との連携が不可欠。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車列計算は独自PoC。車頭時間と容量の一般的な関係はFHWA Traffic Signal Timing Manual章3を参考。</a:t>
            </a:r>
          </a:p>
          <a:p xmlns:a="http://schemas.openxmlformats.org/drawingml/2006/main">
            <a:r>
              <a:t>https://ops.fhwa.dot.gov/publications/fhwahop08024/chapter3.htm</a:t>
            </a:r>
          </a:p>
          <a:p xmlns:a="http://schemas.openxmlformats.org/drawingml/2006/main">
            <a:r>
              <a:t>独自モデルの全条件と結果：定量検証_条件と結果.json。時刻表抜粋：公式ダイヤ抜粋_出典付き.json。</a:t>
            </a:r>
          </a:p>
          <a:p xmlns:a="http://schemas.openxmlformats.org/drawingml/2006/main">
            <a:r>
              <a:t>法令 https://laws.e-gov.go.jp/law/335AC0000000105</a:t>
            </a:r>
          </a:p>
          <a:p xmlns:a="http://schemas.openxmlformats.org/drawingml/2006/main">
            <a:r>
              <a:t>設置高さ https://www.mlit.go.jp/road/sign/annai/setting02.htm</a:t>
            </a:r>
          </a:p>
          <a:p xmlns:a="http://schemas.openxmlformats.org/drawingml/2006/main">
            <a:r>
              <a:t>公開整備事例 https://www.mlit.go.jp/road/sisaku/fumikiri/pdf/jirei_03.pdf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1b9ea5463b45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18e9057d945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bc599252248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a3e1aee724f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7983d90d64e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8724beb64a42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7FB462-CD6C-4522-A131-E63FF90799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D2FB9A4-B5BE-4AC7-8749-FD3C18F326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A5C199-F50D-4E9A-9DC2-378CF9482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5F0F0A-3467-4B07-985B-8D0BEE90C6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A7AE65-083A-4DCB-9428-4C6EC48281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79057D-4971-4AA1-A885-9A3130DBA5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CB8710-67EE-4987-9577-8A5BA93424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6C9E9F-36B9-4697-ABDE-A0CE59F652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A18C01-052B-4886-B0A9-6EFEBAD088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7529F2-B646-459F-BD6F-5E3961B807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6ac21e6ae342bc" /><Relationship Type="http://schemas.openxmlformats.org/officeDocument/2006/relationships/slideLayout" Target="/ppt/slideLayouts/slideLayout1.xml" Id="Rdf60fc4f4dc74ed5" /><Relationship Type="http://schemas.openxmlformats.org/officeDocument/2006/relationships/slideLayout" Target="/ppt/slideLayouts/slideLayout2.xml" Id="R17b4fa7582ea467b" /><Relationship Type="http://schemas.openxmlformats.org/officeDocument/2006/relationships/slideLayout" Target="/ppt/slideLayouts/slideLayout3.xml" Id="R8c8c40b75a9f4e56" /><Relationship Type="http://schemas.openxmlformats.org/officeDocument/2006/relationships/slideLayout" Target="/ppt/slideLayouts/slideLayout4.xml" Id="Raf5ef07a84bc4483" /><Relationship Type="http://schemas.openxmlformats.org/officeDocument/2006/relationships/slideLayout" Target="/ppt/slideLayouts/slideLayout5.xml" Id="R8ee8b04132b64492" /><Relationship Type="http://schemas.openxmlformats.org/officeDocument/2006/relationships/slideLayout" Target="/ppt/slideLayouts/slideLayout6.xml" Id="R530d73bea42b47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60fc4f4dc74ed5"/>
    <p:sldLayoutId xmlns:r="http://schemas.openxmlformats.org/officeDocument/2006/relationships" id="2147483650" r:id="R17b4fa7582ea467b"/>
    <p:sldLayoutId xmlns:r="http://schemas.openxmlformats.org/officeDocument/2006/relationships" id="2147483651" r:id="R8c8c40b75a9f4e56"/>
    <p:sldLayoutId xmlns:r="http://schemas.openxmlformats.org/officeDocument/2006/relationships" id="2147483652" r:id="Raf5ef07a84bc4483"/>
    <p:sldLayoutId xmlns:r="http://schemas.openxmlformats.org/officeDocument/2006/relationships" id="2147483653" r:id="R8ee8b04132b64492"/>
    <p:sldLayoutId xmlns:r="http://schemas.openxmlformats.org/officeDocument/2006/relationships" id="2147483654" r:id="R530d73bea42b47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6e3457c8c34ba9" /><Relationship Type="http://schemas.openxmlformats.org/officeDocument/2006/relationships/image" Target="/ppt/media/image.png" Id="R46bcf2c71b4d44d2" /><Relationship Type="http://schemas.openxmlformats.org/officeDocument/2006/relationships/notesSlide" Target="/ppt/notesSlides/notesSlide1.xml" Id="R28d961dfcecb4c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6bcc1cd9614e6f" /><Relationship Type="http://schemas.openxmlformats.org/officeDocument/2006/relationships/notesSlide" Target="/ppt/notesSlides/notesSlide2.xml" Id="R93d6d98e74b642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de4b09cc44805" /><Relationship Type="http://schemas.openxmlformats.org/officeDocument/2006/relationships/image" Target="/ppt/media/image2.png" Id="R1c0e8b7a51e94176" /><Relationship Type="http://schemas.openxmlformats.org/officeDocument/2006/relationships/notesSlide" Target="/ppt/notesSlides/notesSlide3.xml" Id="Rb307fca8e62340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55f02e298741a2" /><Relationship Type="http://schemas.openxmlformats.org/officeDocument/2006/relationships/notesSlide" Target="/ppt/notesSlides/notesSlide4.xml" Id="R49700adcb7ce4e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673e282bda48d7" /><Relationship Type="http://schemas.openxmlformats.org/officeDocument/2006/relationships/notesSlide" Target="/ppt/notesSlides/notesSlide5.xml" Id="R52a910a99a9744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3731b799a74692" /><Relationship Type="http://schemas.openxmlformats.org/officeDocument/2006/relationships/chart" Target="/ppt/slides/charts/chart1.xml" Id="R647e4c90aad246de" /><Relationship Type="http://schemas.openxmlformats.org/officeDocument/2006/relationships/notesSlide" Target="/ppt/notesSlides/notesSlide6.xml" Id="Reb26fa7515594c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793ec374034aac" /><Relationship Type="http://schemas.openxmlformats.org/officeDocument/2006/relationships/notesSlide" Target="/ppt/notesSlides/notesSlide7.xml" Id="R3185d82eac9a44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efd5d9b99a4876" /><Relationship Type="http://schemas.openxmlformats.org/officeDocument/2006/relationships/notesSlide" Target="/ppt/notesSlides/notesSlide8.xml" Id="R46240d3cb7e945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b03e27ba43473b" /><Relationship Type="http://schemas.openxmlformats.org/officeDocument/2006/relationships/notesSlide" Target="/ppt/notesSlides/notesSlide9.xml" Id="Rc549427c97c346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82a4c892824c93" /><Relationship Type="http://schemas.openxmlformats.org/officeDocument/2006/relationships/notesSlide" Target="/ppt/notesSlides/notesSlide10.xml" Id="R8122c5ebc6f54e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c4a17aac3d48c0" /><Relationship Type="http://schemas.openxmlformats.org/officeDocument/2006/relationships/notesSlide" Target="/ppt/notesSlides/notesSlide11.xml" Id="Rbae12704425b4d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eadec932254c85" /><Relationship Type="http://schemas.openxmlformats.org/officeDocument/2006/relationships/notesSlide" Target="/ppt/notesSlides/notesSlide12.xml" Id="R7730a9e2c3cf4c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c2752e5ca047a9" /><Relationship Type="http://schemas.openxmlformats.org/officeDocument/2006/relationships/notesSlide" Target="/ppt/notesSlides/notesSlide13.xml" Id="R012b3c8e3a344a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d8a4ef7cde468a" /><Relationship Type="http://schemas.openxmlformats.org/officeDocument/2006/relationships/notesSlide" Target="/ppt/notesSlides/notesSlide14.xml" Id="R85162d6e1c9e465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期間内平均遅れ（秒/台）</c:v>
          </c:tx>
          <c:spPr>
            <a:solidFill xmlns:a="http://schemas.openxmlformats.org/drawingml/2006/main">
              <a:srgbClr val="087E83"/>
            </a:solidFill>
          </c:spPr>
          <c:cat>
            <c:strRef>
              <c:f>'Chart Data'!$A$2:$A$3</c:f>
              <c:strCache>
                <c:ptCount val="2"/>
                <c:pt idx="0">
                  <c:v>現行の毎車停止</c:v>
                </c:pt>
                <c:pt idx="1">
                  <c:v>予告に応じて停止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61.00625</c:v>
                </c:pt>
                <c:pt idx="1">
                  <c:v>8.15625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42C41"/>
                  </a:solidFill>
                  <a:latin typeface="Meiryo"/>
                  <a:ea typeface="Meiryo"/>
                  <a:cs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7E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172FB-D0B5-4E0C-A11E-F7345C31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踏切上部の予告表示システム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74CF6-07BB-48CF-96C9-270DA7E8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527EF-D33F-44BD-9370-55AC373C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087E83"/>
                </a:solidFill>
                <a:latin typeface="Meiryo"/>
                <a:ea typeface="Meiryo"/>
                <a:cs typeface="Meiryo"/>
              </a:rPr>
              <a:t>海老名から始める</a:t>
            </a:r>
          </a:p>
          <a:p xmlns:a="http://schemas.openxmlformats.org/drawingml/2006/main">
            <a:pPr>
              <a:defRPr sz="2850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087E83"/>
                </a:solidFill>
                <a:latin typeface="Meiryo"/>
                <a:ea typeface="Meiryo"/>
                <a:cs typeface="Meiryo"/>
              </a:rPr>
              <a:t>交通観測と実証の提案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9B1A7-CAD4-46B6-A567-6F06842C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踏切入口の上方に設置</a:t>
            </a:r>
          </a:p>
          <a:p xmlns:a="http://schemas.openxmlformats.org/drawingml/2006/main">
            <a:pPr>
              <a:defRPr sz="217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列車の予測時刻と状態を表示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DB8B9-386C-4B9D-AF2A-3FB11B9C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2026年10月10日</a:t>
            </a:r>
          </a:p>
          <a:p xmlns:a="http://schemas.openxmlformats.org/drawingml/2006/main">
            <a:pPr>
              <a:defRPr sz="1725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現地データ取得前のPoC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A8BB4-1FAB-4961-BAE2-298C4E5B71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cf2c71b4d44d2"/>
          <a:stretch xmlns:a="http://schemas.openxmlformats.org/drawingml/2006/main"/>
        </p:blipFill>
        <p:spPr>
          <a:xfrm xmlns:a="http://schemas.openxmlformats.org/drawingml/2006/main">
            <a:off x="4953000" y="1457325"/>
            <a:ext cx="6629400" cy="4419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BC3E5-C329-454E-BDB2-DB819A52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AI生成の構想写真。徐行表示の公道運用には制度・安全面の協議が必要。</a:t>
            </a:r>
          </a:p>
        </p:txBody>
      </p:sp>
    </p:spTree>
    <p:extLst>
      <p:ext uri="{BB962C8B-B14F-4D97-AF65-F5344CB8AC3E}">
        <p14:creationId xmlns:p14="http://schemas.microsoft.com/office/powerpoint/2010/main" val="813953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8A791-FB16-4AFE-B586-C3CDB4DA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狙いは、開いている時間の通過を円滑にする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9A388-D3BF-4993-82FA-9F9A19F6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BD82E-B203-4D56-837E-BF718716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325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遮断中の待ち時間は、列車が通過するために必要。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B85C1-DCB8-4CF5-A0C8-CC47F6F3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325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開通中の毎車停止と再発進が、処理できる台数を減らす可能性。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B9B78-7C50-4981-B729-F6F888E9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325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列車情報を使い、既存の踏切信号機制度も含めて改善を検討。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E183A-207C-45EF-8390-9172CD8A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一時停止は安全確認のための義務。到来予測だけで安全確認を代替できるかは未検証。</a:t>
            </a:r>
          </a:p>
        </p:txBody>
      </p:sp>
    </p:spTree>
    <p:extLst>
      <p:ext uri="{BB962C8B-B14F-4D97-AF65-F5344CB8AC3E}">
        <p14:creationId xmlns:p14="http://schemas.microsoft.com/office/powerpoint/2010/main" val="1798548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B5F0F-0B36-4735-8CBA-8F0A1799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表示器は踏切入口の道路上方に設置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036E5-AAD9-4BCC-B911-D8B833A2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C2E8B-FC5C-41F0-8B9A-0AFA116F71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e8b7a51e94176"/>
          <a:stretch xmlns:a="http://schemas.openxmlformats.org/drawingml/2006/main"/>
        </p:blipFill>
        <p:spPr>
          <a:xfrm xmlns:a="http://schemas.openxmlformats.org/drawingml/2006/main">
            <a:off x="897731" y="1447800"/>
            <a:ext cx="6472238" cy="431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CFE7F-93CD-48A9-AD1F-C8327575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47825"/>
            <a:ext cx="3657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道路を跨ぐ門型フレーム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B5694-04C6-49F2-8BBB-1CFBBCEE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19375"/>
            <a:ext cx="3657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表示面は各進入方向に向ける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18837-9F8D-4642-B47E-64336645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90925"/>
            <a:ext cx="3657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警報機を隠さない配置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8BCA9-B5A4-44D2-B636-D950F213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62475"/>
            <a:ext cx="3657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架線離隔・車両高さを確認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51E9C-76DA-4719-A1C6-38AF1AA0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AI生成の構想。構造計算、道路の建築限界、鉄道設備との離隔、維持管理の審査を経て位置を確定。</a:t>
            </a:r>
          </a:p>
        </p:txBody>
      </p:sp>
    </p:spTree>
    <p:extLst>
      <p:ext uri="{BB962C8B-B14F-4D97-AF65-F5344CB8AC3E}">
        <p14:creationId xmlns:p14="http://schemas.microsoft.com/office/powerpoint/2010/main" val="14729837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D2125-D5A4-4E04-B366-0A4094E1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色と文字で状態を伝える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BC172-12FA-45C4-805E-9D644254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9EEBF-09A7-4D21-AFBD-734B286AB146}"/>
              </a:ext>
            </a:extLst>
          </p:cNvPr>
          <p:cNvGraphicFramePr/>
          <p:nvPr/>
        </p:nvGraphicFramePr>
        <p:xfrm>
          <a:off xmlns:a="http://schemas.openxmlformats.org/drawingml/2006/main" x="609600" y="153352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572000"/>
                <a:gridCol w="4400550"/>
              </a:tblGrid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提案上の色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行動の文字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時間の表示例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緑</a:t>
                      </a:r>
                    </a:p>
                  </a:txBody>
                  <a:tcPr marL="133350" marR="133350" marT="114300" marB="114300">
                    <a:solidFill>
                      <a:srgbClr val="137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徐行（将来の承認後）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列車到来まで 約90秒</a:t>
                      </a:r>
                    </a:p>
                  </a:txBody>
                  <a:tcPr marL="133350" marR="133350" marT="114300" marB="11430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黄橙</a:t>
                      </a:r>
                    </a:p>
                  </a:txBody>
                  <a:tcPr marL="133350" marR="133350" marT="114300" marB="114300">
                    <a:solidFill>
                      <a:srgbClr val="A96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一時停止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列車到来まで 約55秒</a:t>
                      </a:r>
                    </a:p>
                  </a:txBody>
                  <a:tcPr marL="133350" marR="133350" marT="114300" marB="11430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赤</a:t>
                      </a:r>
                    </a:p>
                  </a:txBody>
                  <a:tcPr marL="133350" marR="133350" marT="114300" marB="114300">
                    <a:solidFill>
                      <a:srgbClr val="BA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進入禁止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列車通過中</a:t>
                      </a:r>
                    </a:p>
                  </a:txBody>
                  <a:tcPr marL="133350" marR="133350" marT="114300" marB="11430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灰</a:t>
                      </a:r>
                    </a:p>
                  </a:txBody>
                  <a:tcPr marL="133350" marR="133350" marT="114300" marB="114300">
                    <a:solidFill>
                      <a:srgbClr val="6671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情報停止・現地に従う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秒数を消す</a:t>
                      </a:r>
                    </a:p>
                  </a:txBody>
                  <a:tcPr marL="133350" marR="133350" marT="114300" marB="11430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3979D-82FE-4A5E-9607-6D173CFF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現在は現地の信号・警報と一時停止義務に従う。カウント表示による急加速・見落としも実証で評価。</a:t>
            </a:r>
          </a:p>
        </p:txBody>
      </p:sp>
    </p:spTree>
    <p:extLst>
      <p:ext uri="{BB962C8B-B14F-4D97-AF65-F5344CB8AC3E}">
        <p14:creationId xmlns:p14="http://schemas.microsoft.com/office/powerpoint/2010/main" val="5834050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45675-4F4C-4E81-A9D1-98BDF8C6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実データと仮定を分けて説明する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40199-57C9-4CEC-9F48-67CCCD77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DAFE9-7006-455A-AB06-BF0B4C36584B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734050"/>
              </a:tblGrid>
              <a:tr h="8096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取得済み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現地で測る項目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小田急の公式駅発車ダイヤ抜粋40件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方向別の流入交通量・通過台数</a:t>
                      </a:r>
                    </a:p>
                  </a:txBody>
                  <a:tcPr marL="133350" marR="133350" marT="114300" marB="11430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国交省の信号踏切整備事例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警報開始・遮断・列車通過の時刻</a:t>
                      </a:r>
                    </a:p>
                  </a:txBody>
                  <a:tcPr marL="133350" marR="133350" marT="114300" marB="11430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動くWebアプリと条件別の計算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車頭時間・最大車列・旅行時間</a:t>
                      </a:r>
                    </a:p>
                  </a:txBody>
                  <a:tcPr marL="133350" marR="133350" marT="114300" marB="11430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76AF4-4866-49AF-96E8-B2EBBA75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現地データは未取得。公開ダイヤを使った再生も、踏切の到来・遮断時刻は仮定を含む。</a:t>
            </a:r>
          </a:p>
        </p:txBody>
      </p:sp>
    </p:spTree>
    <p:extLst>
      <p:ext uri="{BB962C8B-B14F-4D97-AF65-F5344CB8AC3E}">
        <p14:creationId xmlns:p14="http://schemas.microsoft.com/office/powerpoint/2010/main" val="20368133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B7551-64B0-4FEC-AC2C-6B46350A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仮定例では、期間内の平均遅れが61秒から8.2秒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CC25C-7290-48D7-9430-3DEDF160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80C9E6A2-0434-49A6-9F47-625E1649B0DF}"/>
              </a:ext>
            </a:extLst>
          </p:cNvPr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6858000" cy="3409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7e4c90aad246d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F8935-DA17-4FBD-9D41-77E87AC0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819275"/>
            <a:ext cx="3648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087E83"/>
                </a:solidFill>
                <a:latin typeface="Meiryo"/>
                <a:ea typeface="Meiryo"/>
                <a:cs typeface="Meiryo"/>
              </a:rPr>
              <a:t>約53秒短縮／台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B8276-5621-4098-97F0-EEDB2476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33700"/>
            <a:ext cx="36480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モデル上の削減率</a:t>
            </a:r>
          </a:p>
          <a:p xmlns:a="http://schemas.openxmlformats.org/drawingml/2006/main">
            <a:pPr>
              <a:defRPr sz="285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86.6%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46F7F-4111-4FAA-A306-01E44092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714875"/>
            <a:ext cx="3648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現地の改善保証ではない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5593F-856C-4D5E-ABF6-CA19E43A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仮定：600台/時、停止5秒/台、徐行3秒/台、4分周期、閉鎖45秒、予告停止30秒、評価60分。</a:t>
            </a:r>
          </a:p>
        </p:txBody>
      </p:sp>
    </p:spTree>
    <p:extLst>
      <p:ext uri="{BB962C8B-B14F-4D97-AF65-F5344CB8AC3E}">
        <p14:creationId xmlns:p14="http://schemas.microsoft.com/office/powerpoint/2010/main" val="528427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4DEEF-ECA9-4344-992A-3CA7C5AC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効果は交通量と車頭時間で大きく変わる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FBD2A-2498-472A-A23F-F169EA47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812FE-5028-4C73-A175-53352A7EB325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2533650"/>
                <a:gridCol w="2533650"/>
              </a:tblGrid>
              <a:tr h="8191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交通量・徐行車頭時間（仮定）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現行の遅れ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予告案の遅れ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300台/時・3秒/台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7.0秒/台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5.5秒/台</a:t>
                      </a:r>
                    </a:p>
                  </a:txBody>
                  <a:tcPr marL="133350" marR="133350" marT="114300" marB="114300"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600台/時・3秒/台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61.0秒/台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8.2秒/台</a:t>
                      </a:r>
                    </a:p>
                  </a:txBody>
                  <a:tcPr marL="133350" marR="133350" marT="114300" marB="114300"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600台/時・5秒/台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61.0秒/台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61.0秒/台</a:t>
                      </a:r>
                    </a:p>
                  </a:txBody>
                  <a:tcPr marL="133350" marR="133350" marT="114300" marB="11430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3E81E-7527-4D56-A1CE-A3C1AB2E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087E83"/>
                </a:solidFill>
                <a:latin typeface="Meiryo"/>
                <a:ea typeface="Meiryo"/>
                <a:cs typeface="Meiryo"/>
              </a:rPr>
              <a:t>毎車停止が主な原因の踏切ほど、改善を期待できる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1A0AF-FA2D-4EF5-97D7-4C6F3867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いずれも仮定による60分の計算。遮断が長い踏切や、出口交差点が詰まる場所では別の対策も必要。</a:t>
            </a:r>
          </a:p>
        </p:txBody>
      </p:sp>
    </p:spTree>
    <p:extLst>
      <p:ext uri="{BB962C8B-B14F-4D97-AF65-F5344CB8AC3E}">
        <p14:creationId xmlns:p14="http://schemas.microsoft.com/office/powerpoint/2010/main" val="15668826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EA5E8-2C1A-4071-B6C6-C6E7D5A1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公開事例では、信号化と右折レーン整備で改善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DE520-4526-4FD7-8FFF-F3250139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D8B73-EE67-4F97-BB4F-8F4CE303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087E83"/>
                </a:solidFill>
                <a:latin typeface="Meiryo"/>
                <a:ea typeface="Meiryo"/>
                <a:cs typeface="Meiryo"/>
              </a:rPr>
              <a:t>黒沢踏切（秋田県由利本荘市）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A48D5-EA13-4D83-A0F8-A79D6431ABD0}"/>
              </a:ext>
            </a:extLst>
          </p:cNvPr>
          <p:cNvGraphicFramePr/>
          <p:nvPr/>
        </p:nvGraphicFramePr>
        <p:xfrm>
          <a:off xmlns:a="http://schemas.openxmlformats.org/drawingml/2006/main" x="609600" y="2514600"/>
          <a:ext xmlns:a="http://schemas.openxmlformats.org/drawingml/2006/main" cx="10972800" cy="2305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76835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公表された指標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整備前（H26）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整備後（H30）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</a:tr>
              <a:tr h="76835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渋滞長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1,300m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0m</a:t>
                      </a:r>
                    </a:p>
                  </a:txBody>
                  <a:tcPr marL="133350" marR="133350" marT="114300" marB="114300"/>
                </a:tc>
              </a:tr>
              <a:tr h="76835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旅行速度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12km/h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40km/h</a:t>
                      </a:r>
                    </a:p>
                  </a:txBody>
                  <a:tcPr marL="133350" marR="133350" marT="114300" marB="11430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0C765-66BD-4176-98EA-5B7D3824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国土交通省の他地点の実績。信号化と右折レーン整備の事例であり、今回の表示器単独の効果ではない。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4259649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A7387-B7FB-4101-8048-7F52C456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最初の相談先は海老名市の道路管理課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02BBB-C58A-4B4E-B2B1-E5DD43CC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78B4A-9AE5-4B92-B4C6-B41F19F687CE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38800"/>
                <a:gridCol w="5334000"/>
              </a:tblGrid>
              <a:tr h="809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相談する相手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相談する内容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海老名市 道路管理課</a:t>
                      </a:r>
                    </a:p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維持補修係 046-235-9386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地域課題と候補地選定</a:t>
                      </a:r>
                    </a:p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関係機関との打合せ</a:t>
                      </a:r>
                    </a:p>
                  </a:txBody>
                  <a:tcPr marL="133350" marR="133350" marT="114300" marB="11430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県道の場合：県 東部センター</a:t>
                      </a:r>
                    </a:p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安全施設班 0467-79-2851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道路施設・観測方法・設置位置</a:t>
                      </a:r>
                    </a:p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事業と維持管理の主体</a:t>
                      </a:r>
                    </a:p>
                  </a:txBody>
                  <a:tcPr marL="133350" marR="133350" marT="114300" marB="11430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所轄警察署・県警 交通規制課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表示の解釈、踏切信号機制度</a:t>
                      </a:r>
                    </a:p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公道実証の交通規制</a:t>
                      </a:r>
                    </a:p>
                  </a:txBody>
                  <a:tcPr marL="133350" marR="133350" marT="114300" marB="11430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対象の鉄道事業者</a:t>
                      </a:r>
                    </a:p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小田急なら公式問い合わせ窓口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列車情報、警報との連携</a:t>
                      </a:r>
                    </a:p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保安・設備・管理責任</a:t>
                      </a:r>
                    </a:p>
                  </a:txBody>
                  <a:tcPr marL="133350" marR="133350" marT="114300" marB="11430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13B6D-52F2-4CF6-904E-337D816F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海老名市には市道と地域調整、県には県道を相談。候補踏切の正式な道路管理者を最初に確認する。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4493237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F2A9D-C3B8-4301-833B-6C6D1035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自治体の規模より、踏切の条件で候補を選ぶ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23C3C-DE0F-43CE-B0FC-FEB2D2C4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B1959-025F-4E61-9CE2-0B45F37C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海老名では、まず2～3か所を市と比較する。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5DF38-3634-449E-A73A-F99AC77C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開通中の停止・発進が車列の主因になっている。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DA940-F2BC-48A1-B8DD-144D8984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道路上方の空間と、踏切出口の退避余地を確保できる。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51858-D92E-455E-94FF-26B8DD38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道路管理者と鉄道事業者が観測・協議に参加できる。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54188-1F11-44D7-840F-26AA6261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小さな市町村も候補になる。初回は複数踏切・隣接交差点の影響が少ない場所を優先する案。</a:t>
            </a:r>
          </a:p>
        </p:txBody>
      </p:sp>
    </p:spTree>
    <p:extLst>
      <p:ext uri="{BB962C8B-B14F-4D97-AF65-F5344CB8AC3E}">
        <p14:creationId xmlns:p14="http://schemas.microsoft.com/office/powerpoint/2010/main" val="13946830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24C79-B3D9-408C-BE1A-4203E28B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設置までの段階と判断条件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CDA15-CD8A-4822-8899-85D2B663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84BBF-CDD7-44E1-8BFF-15CFB5422DB9}"/>
              </a:ext>
            </a:extLst>
          </p:cNvPr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972800" cy="3876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81500"/>
                <a:gridCol w="4305300"/>
              </a:tblGrid>
              <a:tr h="6461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段階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実施すること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次へ進む条件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</a:tr>
              <a:tr h="6461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1 現状観測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交通量・警報・車列を測る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現行の車列をモデルで再現</a:t>
                      </a:r>
                    </a:p>
                  </a:txBody>
                  <a:tcPr marL="133350" marR="133350" marT="114300" marB="114300"/>
                </a:tc>
              </a:tr>
              <a:tr h="6461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2 予測検証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運転者に見せず予測精度を測る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遅延・欠損時の危険な判定を検証</a:t>
                      </a:r>
                    </a:p>
                  </a:txBody>
                  <a:tcPr marL="133350" marR="133350" marT="114300" marB="114300"/>
                </a:tc>
              </a:tr>
              <a:tr h="6461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3 閉鎖環境の試験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実寸表示で視認性と理解を試す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昼夜・大型車・雨で読める</a:t>
                      </a:r>
                    </a:p>
                  </a:txBody>
                  <a:tcPr marL="133350" marR="133350" marT="114300" marB="114300"/>
                </a:tc>
              </a:tr>
              <a:tr h="6461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4 公道実証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既存制度を含め関係者で計画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規制・設備・責任・保守を合意</a:t>
                      </a:r>
                    </a:p>
                  </a:txBody>
                  <a:tcPr marL="133350" marR="133350" marT="114300" marB="114300"/>
                </a:tc>
              </a:tr>
              <a:tr h="6461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5 本設置の判断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前後比較と安全指標を評価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便益・費用・管理主体を確定</a:t>
                      </a:r>
                    </a:p>
                  </a:txBody>
                  <a:tcPr marL="133350" marR="133350" marT="114300" marB="11430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1E1C9-E066-4405-A781-ABF35CC1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最初の実証は観測と予測の検証。徐行運用は、その後の承認された計画で扱う。</a:t>
            </a:r>
          </a:p>
        </p:txBody>
      </p:sp>
    </p:spTree>
    <p:extLst>
      <p:ext uri="{BB962C8B-B14F-4D97-AF65-F5344CB8AC3E}">
        <p14:creationId xmlns:p14="http://schemas.microsoft.com/office/powerpoint/2010/main" val="17441270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9E29F-6088-44D3-849E-FD3C5164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初回相談でお願いすること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ABC80-87C2-42F3-BF74-243E9EBD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B571F-E1B7-4CAF-A80B-1B7E3300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pPr>
            <a:r>
              <a:rPr sz="2925" b="1">
                <a:solidFill>
                  <a:srgbClr val="087E83"/>
                </a:solidFill>
                <a:latin typeface="Meiryo"/>
                <a:ea typeface="Meiryo"/>
                <a:cs typeface="Meiryo"/>
              </a:rPr>
              <a:t>候補地選定と現状観測の打合せ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90819-0687-410B-BCD1-FAFC9A08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地域の渋滞課題に合う候補踏切を紹介していただきたい。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DCAC9-E7A2-4447-900B-9EAF113A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交通量・遮断時間の既存資料と、観測の手続きを確認したい。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9B67E-2C8E-426A-8965-8883F9BF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道路管理者・鉄道事業者・警察との相談窓口を確認したい。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A802E-0C13-4BDE-A5E4-59B7A7A1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持参資料：本資料、Webデモ、観測票。氏名・連絡先を記入して相談文を利用する。</a:t>
            </a:r>
          </a:p>
        </p:txBody>
      </p:sp>
    </p:spTree>
    <p:extLst>
      <p:ext uri="{BB962C8B-B14F-4D97-AF65-F5344CB8AC3E}">
        <p14:creationId xmlns:p14="http://schemas.microsoft.com/office/powerpoint/2010/main" val="1280935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2B957-82F3-46DF-B436-B8AA66A9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費用と責任を決めてから機器を発注する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00B45-8BA9-41A2-807E-78A373BE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C7434-8202-458D-90B9-92D663D075F8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5257800"/>
              </a:tblGrid>
              <a:tr h="67818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見積もる範囲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協議する相手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交通観測・効果評価・表示の理解試験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自治体、交通調査会社、必要に応じ研究機関</a:t>
                      </a:r>
                    </a:p>
                  </a:txBody>
                  <a:tcPr marL="133350" marR="133350" marT="114300" marB="114300"/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門型フレーム・基礎・電源・施工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道路管理者、構造設計者、施工会社</a:t>
                      </a:r>
                    </a:p>
                  </a:txBody>
                  <a:tcPr marL="133350" marR="133350" marT="114300" marB="114300"/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列車情報・現地検知・異常時処理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鉄道事業者、保安・信号設備メーカー</a:t>
                      </a:r>
                    </a:p>
                  </a:txBody>
                  <a:tcPr marL="133350" marR="133350" marT="114300" marB="114300"/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保守・点検・通信費・故障対応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設置者と管理者、保守会社</a:t>
                      </a:r>
                    </a:p>
                  </a:txBody>
                  <a:tcPr marL="133350" marR="133350" marT="114300" marB="11430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49286-8582-4A09-ADD7-D503619F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機器価格・工事費は未見積。検証費用と本設置費用を分け、所有・事故対応・保守の責任者を決める。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344713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38DBB-0258-4CAF-8AE0-1F0D89A9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計算の見方と公開資料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04106-3386-4CB7-8758-13D41EE8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2E3ED-F19D-42EC-9400-04FCA4D8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車頭時間 h秒なら、開通中の処理能力は 3600 ÷ h 台/時。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9C6E0-2164-4E79-9234-8FC53022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閉鎖時間を差し引き、流入台数が能力を超えると車列が残る。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F517C-A69C-4AE7-B1BB-9FC3BE45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30mを10km/hで走る場合、40km/hとの定速比較で8.1秒増。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AB503-0A76-428B-9BCD-5D1CB088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7E83"/>
                </a:solidFill>
                <a:latin typeface="Meiryo"/>
                <a:ea typeface="Meiryo"/>
                <a:cs typeface="Meiryo"/>
              </a:rPr>
              <a:t>Webデモと公開ソース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224B9-E0CC-4B92-9D40-AA42744C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dachone-sys.github.io/railway-crossing-notification/</a:t>
            </a:r>
          </a:p>
          <a:p xmlns:a="http://schemas.openxmlformats.org/drawingml/2006/main">
            <a:pPr>
              <a:defRPr sz="1950" b="0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42C41"/>
                </a:solidFill>
                <a:latin typeface="Meiryo"/>
                <a:ea typeface="Meiryo"/>
                <a:cs typeface="Meiryo"/>
              </a:rPr>
              <a:t>github.com/dachone-sys/railway-crossing-notification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D0CF9-D9D5-4882-897A-91A62E5A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徐行を固定の10km/hと定義したものではない。減速・再加速や出口交差点の損失は、この定速比較に含まない。</a:t>
            </a:r>
          </a:p>
        </p:txBody>
      </p:sp>
    </p:spTree>
    <p:extLst>
      <p:ext uri="{BB962C8B-B14F-4D97-AF65-F5344CB8AC3E}">
        <p14:creationId xmlns:p14="http://schemas.microsoft.com/office/powerpoint/2010/main" val="1360735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2026-10-10T11:25:32.2820000Z</dcterms:created>
  <dcterms:modified xsi:type="dcterms:W3CDTF">2026-10-10T11:25:32.2820000Z</dcterms:modified>
</coreProperties>
</file>