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9ce133b6b2467a" /><Relationship Type="http://schemas.openxmlformats.org/officeDocument/2006/relationships/extended-properties" Target="/docProps/app.xml" Id="R625d8cc2b6f044ca" /><Relationship Type="http://schemas.openxmlformats.org/officeDocument/2006/relationships/officeDocument" Target="/ppt/presentation.xml" Id="R06e741c0025d46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f2567b4144475a"/>
  </p:sldMasterIdLst>
  <p:notesMasterIdLst>
    <p:notesMasterId xmlns:r="http://schemas.openxmlformats.org/officeDocument/2006/relationships" r:id="R766c7ea49d174453"/>
  </p:notesMasterIdLst>
  <p:sldIdLst>
    <p:sldId xmlns:r="http://schemas.openxmlformats.org/officeDocument/2006/relationships" id="256" r:id="R23c742a80f164f5e"/>
    <p:sldId xmlns:r="http://schemas.openxmlformats.org/officeDocument/2006/relationships" id="257" r:id="R1b01ee789d1345de"/>
    <p:sldId xmlns:r="http://schemas.openxmlformats.org/officeDocument/2006/relationships" id="258" r:id="Rd0e0c499524e434f"/>
    <p:sldId xmlns:r="http://schemas.openxmlformats.org/officeDocument/2006/relationships" id="259" r:id="R9ed93b1874154251"/>
    <p:sldId xmlns:r="http://schemas.openxmlformats.org/officeDocument/2006/relationships" id="260" r:id="Rfbd06e7fa76c4f06"/>
    <p:sldId xmlns:r="http://schemas.openxmlformats.org/officeDocument/2006/relationships" id="261" r:id="R6f3a6b6ced9941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1aeb66e7814dd6" /><Relationship Type="http://schemas.openxmlformats.org/officeDocument/2006/relationships/slideMaster" Target="/ppt/slideMasters/slideMaster1.xml" Id="Raef2567b4144475a" /><Relationship Type="http://schemas.openxmlformats.org/officeDocument/2006/relationships/notesMaster" Target="/ppt/notesMasters/notesMaster1.xml" Id="R766c7ea49d174453" /><Relationship Type="http://schemas.openxmlformats.org/officeDocument/2006/relationships/presProps" Target="/ppt/presProps.xml" Id="Rf65c4b502f8b4a09" /><Relationship Type="http://schemas.openxmlformats.org/officeDocument/2006/relationships/tableStyles" Target="/ppt/tableStyles.xml" Id="Re6a4b9aa944f40c6" /><Relationship Type="http://schemas.openxmlformats.org/officeDocument/2006/relationships/slide" Target="/ppt/slides/slide1.xml" Id="R23c742a80f164f5e" /><Relationship Type="http://schemas.openxmlformats.org/officeDocument/2006/relationships/slide" Target="/ppt/slides/slide2.xml" Id="R1b01ee789d1345de" /><Relationship Type="http://schemas.openxmlformats.org/officeDocument/2006/relationships/slide" Target="/ppt/slides/slide3.xml" Id="Rd0e0c499524e434f" /><Relationship Type="http://schemas.openxmlformats.org/officeDocument/2006/relationships/slide" Target="/ppt/slides/slide4.xml" Id="R9ed93b1874154251" /><Relationship Type="http://schemas.openxmlformats.org/officeDocument/2006/relationships/slide" Target="/ppt/slides/slide5.xml" Id="Rfbd06e7fa76c4f06" /><Relationship Type="http://schemas.openxmlformats.org/officeDocument/2006/relationships/slide" Target="/ppt/slides/slide6.xml" Id="R6f3a6b6ced9941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e8ae4d7e3341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d80546b980490d" /><Relationship Type="http://schemas.openxmlformats.org/officeDocument/2006/relationships/notesMaster" Target="/ppt/notesMasters/notesMaster1.xml" Id="R4b7794fa31c642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17c858d20b49ec" /><Relationship Type="http://schemas.openxmlformats.org/officeDocument/2006/relationships/notesMaster" Target="/ppt/notesMasters/notesMaster1.xml" Id="Rcdf73e8284e945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a33661a07148fa" /><Relationship Type="http://schemas.openxmlformats.org/officeDocument/2006/relationships/notesMaster" Target="/ppt/notesMasters/notesMaster1.xml" Id="Rc0f62555ab5449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7dfb7e74914b72" /><Relationship Type="http://schemas.openxmlformats.org/officeDocument/2006/relationships/notesMaster" Target="/ppt/notesMasters/notesMaster1.xml" Id="R0573eef0af0448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84c25813d647ed" /><Relationship Type="http://schemas.openxmlformats.org/officeDocument/2006/relationships/notesMaster" Target="/ppt/notesMasters/notesMaster1.xml" Id="R893d25f76be442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7d32bdc47e4201" /><Relationship Type="http://schemas.openxmlformats.org/officeDocument/2006/relationships/notesMaster" Target="/ppt/notesMasters/notesMaster1.xml" Id="R69c994928f8d47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車両単位モデルの補足資料。公式駅発車ダイヤの土休日20件を使用。踏切通過の全列車は未収録。道路流入600台/時、停止1秒、車頭時間5秒と3秒、退出12秒＋余裕8秒、黄色35秒前、初期車列0。現地実測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警報は列車到達35秒前、閉鎖は到達10秒後までを仮定。黄色の基本値30秒に対して予測幅15＋退出12＋余裕8=35秒を採用。この値は安全認証された閾値ではない。赤で最初5秒間に遮断機を下ろし、最後5秒間で上げるが、閉鎖期間の進入は禁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AI生成による架空の踏切上方への設置イメージ。写真の時間は静止画の例。実際の道路上に設置・運用済みの装置ではない。通知器のみでは通行ルールは変更できない。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AI生成による架空の踏切上方への設置イメージ。写真の時間は静止画の例。実際の道路上に設置・運用済みの装置ではない。通知器のみでは通行ルールは変更できない。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AI生成による架空の踏切上方への設置イメージ。写真の時間は静止画の例。実際の道路上に設置・運用済みの装置ではない。通知器のみでは通行ルールは変更できない。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AI生成による架空の踏切上方への設置イメージ。写真の時間は静止画の例。実際の道路上に設置・運用済みの装置ではない。通知器のみでは通行ルールは変更できない。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92bdb399a34c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fe43ad1274f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74f2819574f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87ce24069444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bd97eda5974d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de5f3c8124d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FAA7EB-2BFF-4D7F-9FDA-CAB73E99DC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BC1BD72-8270-4808-86E4-37287AB7E6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0228EE5-F3F8-4FD4-94BA-051DBC1744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F0EB85-C84F-484B-B673-1B801563D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770A59A-BA5A-47F8-BAB2-4689BAC35A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783DBC-2821-4D30-A162-0A7AA2F5B5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5C0C3E-D6AC-4FF3-BA42-934AEF00BE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4A38C17-95A0-48B1-A5A0-EE18C3E18FF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DDA438-A2EB-45FB-908A-CE9D6EA01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B989D4-AE60-419E-8CE6-03BA75D5CD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528cfdb1dd4894" /><Relationship Type="http://schemas.openxmlformats.org/officeDocument/2006/relationships/slideLayout" Target="/ppt/slideLayouts/slideLayout1.xml" Id="Rb847eba08d7d419d" /><Relationship Type="http://schemas.openxmlformats.org/officeDocument/2006/relationships/slideLayout" Target="/ppt/slideLayouts/slideLayout2.xml" Id="R162444c4a777442e" /><Relationship Type="http://schemas.openxmlformats.org/officeDocument/2006/relationships/slideLayout" Target="/ppt/slideLayouts/slideLayout3.xml" Id="R53fef7d3604140d8" /><Relationship Type="http://schemas.openxmlformats.org/officeDocument/2006/relationships/slideLayout" Target="/ppt/slideLayouts/slideLayout4.xml" Id="Recf437d813ca43a4" /><Relationship Type="http://schemas.openxmlformats.org/officeDocument/2006/relationships/slideLayout" Target="/ppt/slideLayouts/slideLayout5.xml" Id="R51acf1989b864bc1" /><Relationship Type="http://schemas.openxmlformats.org/officeDocument/2006/relationships/slideLayout" Target="/ppt/slideLayouts/slideLayout6.xml" Id="R6eb3ef98026046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47eba08d7d419d"/>
    <p:sldLayoutId xmlns:r="http://schemas.openxmlformats.org/officeDocument/2006/relationships" id="2147483650" r:id="R162444c4a777442e"/>
    <p:sldLayoutId xmlns:r="http://schemas.openxmlformats.org/officeDocument/2006/relationships" id="2147483651" r:id="R53fef7d3604140d8"/>
    <p:sldLayoutId xmlns:r="http://schemas.openxmlformats.org/officeDocument/2006/relationships" id="2147483652" r:id="Recf437d813ca43a4"/>
    <p:sldLayoutId xmlns:r="http://schemas.openxmlformats.org/officeDocument/2006/relationships" id="2147483653" r:id="R51acf1989b864bc1"/>
    <p:sldLayoutId xmlns:r="http://schemas.openxmlformats.org/officeDocument/2006/relationships" id="2147483654" r:id="R6eb3ef98026046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f185a1732a4df5" /><Relationship Type="http://schemas.openxmlformats.org/officeDocument/2006/relationships/notesSlide" Target="/ppt/notesSlides/notesSlide1.xml" Id="R7aef5d4c6b094c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03169e483a4f34" /><Relationship Type="http://schemas.openxmlformats.org/officeDocument/2006/relationships/notesSlide" Target="/ppt/notesSlides/notesSlide2.xml" Id="Rb8e544df553d42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46255458c94761" /><Relationship Type="http://schemas.openxmlformats.org/officeDocument/2006/relationships/image" Target="/ppt/media/image.png" Id="R6e2caf7142334204" /><Relationship Type="http://schemas.openxmlformats.org/officeDocument/2006/relationships/notesSlide" Target="/ppt/notesSlides/notesSlide3.xml" Id="R24ad51d8562443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4b72ebe73b4c3d" /><Relationship Type="http://schemas.openxmlformats.org/officeDocument/2006/relationships/image" Target="/ppt/media/image2.png" Id="R63a782c338694d40" /><Relationship Type="http://schemas.openxmlformats.org/officeDocument/2006/relationships/notesSlide" Target="/ppt/notesSlides/notesSlide4.xml" Id="R953964bdfa524d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93270dbd914245" /><Relationship Type="http://schemas.openxmlformats.org/officeDocument/2006/relationships/image" Target="/ppt/media/image3.png" Id="R7f0f94818dc9449f" /><Relationship Type="http://schemas.openxmlformats.org/officeDocument/2006/relationships/notesSlide" Target="/ppt/notesSlides/notesSlide5.xml" Id="R78a822bb7e7542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7c1a07f0b646ca" /><Relationship Type="http://schemas.openxmlformats.org/officeDocument/2006/relationships/image" Target="/ppt/media/image4.png" Id="Ref4b2af0c22c44cc" /><Relationship Type="http://schemas.openxmlformats.org/officeDocument/2006/relationships/notesSlide" Target="/ppt/notesSlides/notesSlide6.xml" Id="R4d662e72c2b746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20A40-AD06-4FE4-8040-8A6120D5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同じ流入とダイヤで、車列を左右に比較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BA511-8625-4BDC-AE8C-C643DF71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D8FC9-3F96-401D-941A-2D22DDB0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087E83"/>
                </a:solidFill>
                <a:latin typeface="Meiryo"/>
                <a:ea typeface="Meiryo"/>
                <a:cs typeface="Meiryo"/>
              </a:rPr>
              <a:t>Webの02で車・カウント・遮断機を同時に再生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C7328-7968-4FD4-B1E2-CD0DAFFE529B}"/>
              </a:ext>
            </a:extLst>
          </p:cNvPr>
          <p:cNvGraphicFramePr/>
          <p:nvPr/>
        </p:nvGraphicFramePr>
        <p:xfrm>
          <a:off xmlns:a="http://schemas.openxmlformats.org/drawingml/2006/main" x="609600" y="2286000"/>
          <a:ext xmlns:a="http://schemas.openxmlformats.org/drawingml/2006/main" cx="109728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2914650"/>
                <a:gridCol w="2914650"/>
              </a:tblGrid>
              <a:tr h="700088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60分の試算（片方向）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従来・毎車停止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予告＋徐行案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期間内の平均遅れ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399.2秒/台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47.3秒/台</a:t>
                      </a:r>
                    </a:p>
                  </a:txBody>
                  <a:tcPr marL="133350" marR="133350" marT="114300" marB="114300"/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最大の待ち車列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131台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23台</a:t>
                      </a:r>
                    </a:p>
                  </a:txBody>
                  <a:tcPr marL="133350" marR="133350" marT="114300" marB="114300"/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期間内に退出した車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472台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580台</a:t>
                      </a:r>
                    </a:p>
                  </a:txBody>
                  <a:tcPr marL="133350" marR="133350" marT="114300" marB="11430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756D3-D3FD-4CE1-8196-2C1619F5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実績ではなく条件付きの試算。未収録列車、出口交差点、歩行者、減速・再加速の損失を追加検証する。</a:t>
            </a:r>
          </a:p>
        </p:txBody>
      </p:sp>
    </p:spTree>
    <p:extLst>
      <p:ext uri="{BB962C8B-B14F-4D97-AF65-F5344CB8AC3E}">
        <p14:creationId xmlns:p14="http://schemas.microsoft.com/office/powerpoint/2010/main" val="1106759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CAE5A-7919-4E9F-BE0C-4C1C2F20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黄色の開始と、進入を止める時点を分ける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8C32D-A996-49D8-9DC4-26C1245F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292A1-7DF7-427B-8DA8-9F106159E497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6972300"/>
              </a:tblGrid>
              <a:tr h="6746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警報開始までの時間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提案側の表示と車の動き</a:t>
                      </a:r>
                    </a:p>
                  </a:txBody>
                  <a:tcPr marL="133350" marR="133350" marT="114300" marB="114300">
                    <a:solidFill>
                      <a:srgbClr val="142C41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35秒より前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緑：徐行案・通過間隔3秒/台</a:t>
                      </a:r>
                    </a:p>
                  </a:txBody>
                  <a:tcPr marL="133350" marR="133350" marT="114300" marB="114300"/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35秒～20秒前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黄：毎車一時停止・5秒/台</a:t>
                      </a:r>
                    </a:p>
                  </a:txBody>
                  <a:tcPr marL="133350" marR="133350" marT="114300" marB="114300"/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20秒前～警報開始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黄：新たな進入を止め、退出余裕を確保</a:t>
                      </a:r>
                    </a:p>
                  </a:txBody>
                  <a:tcPr marL="133350" marR="133350" marT="114300" marB="114300"/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警報開始～開通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赤：進入禁止・遮断機が下がる</a:t>
                      </a:r>
                    </a:p>
                  </a:txBody>
                  <a:tcPr marL="133350" marR="133350" marT="114300" marB="114300"/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情報欠損・古い情報</a:t>
                      </a:r>
                    </a:p>
                  </a:txBody>
                  <a:tcPr marL="133350" marR="13335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C41"/>
                          </a:solidFill>
                          <a:latin typeface="Meiryo"/>
                          <a:ea typeface="Meiryo"/>
                          <a:cs typeface="Meiryo"/>
                        </a:rPr>
                        <a:t>灰：カウント停止、通常の一時停止へ戻す</a:t>
                      </a:r>
                    </a:p>
                  </a:txBody>
                  <a:tcPr marL="133350" marR="133350" marT="114300" marB="11430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E9A14-737A-4EB3-82B5-47470F48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時刻は説明用の仮定。カウントの0は列車の到達を示し、踏切が開く時刻ではない。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9233283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372C7-D189-410C-A713-C5D8CA69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緑：接近まで余裕がある想定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2B80E-F880-448E-A12A-AED46A75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948BD-6577-4065-B4B1-539BA3F984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caf7142334204"/>
          <a:stretch xmlns:a="http://schemas.openxmlformats.org/drawingml/2006/main"/>
        </p:blipFill>
        <p:spPr>
          <a:xfrm xmlns:a="http://schemas.openxmlformats.org/drawingml/2006/main">
            <a:off x="897731" y="1381125"/>
            <a:ext cx="6472238" cy="431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9728E-5A96-4C66-A26B-8FC097F9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00200"/>
            <a:ext cx="365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87E83"/>
                </a:solidFill>
                <a:latin typeface="Meiryo"/>
                <a:ea typeface="Meiryo"/>
                <a:cs typeface="Meiryo"/>
              </a:rPr>
              <a:t>徐行（将来構想）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36DFF-7534-4DB4-94FF-D5C278CA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76525"/>
            <a:ext cx="365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警報開始まで</a:t>
            </a:r>
          </a:p>
          <a:p xmlns:a="http://schemas.openxmlformats.org/drawingml/2006/main">
            <a:pPr>
              <a:defRPr sz="2325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1分30秒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4D072-5C7A-4D58-8EAF-40D80D7C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95775"/>
            <a:ext cx="3657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遮断機は上がった状態</a:t>
            </a:r>
          </a:p>
          <a:p xmlns:a="http://schemas.openxmlformats.org/drawingml/2006/main">
            <a:pPr>
              <a:defRPr sz="180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警報灯は消灯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8C075-1CD2-4DDF-9757-4A885ABE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AI生成の将来構想。色に加えて行動を文字で表示。実運用には関係機関との制度・安全面の合意が必要。</a:t>
            </a:r>
          </a:p>
        </p:txBody>
      </p:sp>
    </p:spTree>
    <p:extLst>
      <p:ext uri="{BB962C8B-B14F-4D97-AF65-F5344CB8AC3E}">
        <p14:creationId xmlns:p14="http://schemas.microsoft.com/office/powerpoint/2010/main" val="19427878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382FD-37C4-49A2-8F26-7FC7EE8B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黄：一時停止へ切り替える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723F3-88E4-4295-AEA2-F2B5FBAB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C4F58-262D-49C4-B3D9-87578E9024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782c338694d40"/>
          <a:stretch xmlns:a="http://schemas.openxmlformats.org/drawingml/2006/main"/>
        </p:blipFill>
        <p:spPr>
          <a:xfrm xmlns:a="http://schemas.openxmlformats.org/drawingml/2006/main">
            <a:off x="897731" y="1381125"/>
            <a:ext cx="6472238" cy="431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BFE42-261E-4CE7-80DD-A5181698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00200"/>
            <a:ext cx="365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87E83"/>
                </a:solidFill>
                <a:latin typeface="Meiryo"/>
                <a:ea typeface="Meiryo"/>
                <a:cs typeface="Meiryo"/>
              </a:rPr>
              <a:t>毎車 一時停止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C425E-0226-45F1-8C5C-BD4D62B7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76525"/>
            <a:ext cx="365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警報開始まで</a:t>
            </a:r>
          </a:p>
          <a:p xmlns:a="http://schemas.openxmlformats.org/drawingml/2006/main">
            <a:pPr>
              <a:defRPr sz="2325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0分20秒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E1752-619C-47C3-ACC9-BBE669A3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95775"/>
            <a:ext cx="3657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最後の20秒は新たに進入せず</a:t>
            </a:r>
          </a:p>
          <a:p xmlns:a="http://schemas.openxmlformats.org/drawingml/2006/main">
            <a:pPr>
              <a:defRPr sz="180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退出時間を確保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1A62B-C457-4F07-8637-745100E7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AI生成の将来構想。色に加えて行動を文字で表示。実運用には関係機関との制度・安全面の合意が必要。</a:t>
            </a:r>
          </a:p>
        </p:txBody>
      </p:sp>
    </p:spTree>
    <p:extLst>
      <p:ext uri="{BB962C8B-B14F-4D97-AF65-F5344CB8AC3E}">
        <p14:creationId xmlns:p14="http://schemas.microsoft.com/office/powerpoint/2010/main" val="10309931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BEC32-2056-41F3-A3B0-9D926672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赤：警報中は進入しない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CEAAB-D4B2-4703-9B99-A4826B2B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92DAA-A225-4482-BCAD-274DB95222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f94818dc9449f"/>
          <a:stretch xmlns:a="http://schemas.openxmlformats.org/drawingml/2006/main"/>
        </p:blipFill>
        <p:spPr>
          <a:xfrm xmlns:a="http://schemas.openxmlformats.org/drawingml/2006/main">
            <a:off x="897731" y="1381125"/>
            <a:ext cx="6472238" cy="431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A7720-450A-4F49-B48E-BB713AE9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00200"/>
            <a:ext cx="365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87E83"/>
                </a:solidFill>
                <a:latin typeface="Meiryo"/>
                <a:ea typeface="Meiryo"/>
                <a:cs typeface="Meiryo"/>
              </a:rPr>
              <a:t>進入禁止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CE297-9EFE-425F-BAA3-5828C395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76525"/>
            <a:ext cx="365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列車通過中</a:t>
            </a:r>
          </a:p>
          <a:p xmlns:a="http://schemas.openxmlformats.org/drawingml/2006/main">
            <a:pPr>
              <a:defRPr sz="2325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0分00秒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6E998-23DF-4C06-A60E-D2FD5673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95775"/>
            <a:ext cx="3657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遮断機は下がった状態</a:t>
            </a:r>
          </a:p>
          <a:p xmlns:a="http://schemas.openxmlformats.org/drawingml/2006/main">
            <a:pPr>
              <a:defRPr sz="180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現地の警報が優先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7EE53-A3FF-4D45-988D-57261D1C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AI生成の将来構想。色に加えて行動を文字で表示。実運用には関係機関との制度・安全面の合意が必要。</a:t>
            </a:r>
          </a:p>
        </p:txBody>
      </p:sp>
    </p:spTree>
    <p:extLst>
      <p:ext uri="{BB962C8B-B14F-4D97-AF65-F5344CB8AC3E}">
        <p14:creationId xmlns:p14="http://schemas.microsoft.com/office/powerpoint/2010/main" val="12091786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46006-B50F-4653-89C5-806BADAD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灰：情報を確認できない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B1D5F-AAB1-437E-B951-8F542D8B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FC4B1-FB5E-4175-98F2-A6FD4ACA37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b2af0c22c44cc"/>
          <a:stretch xmlns:a="http://schemas.openxmlformats.org/drawingml/2006/main"/>
        </p:blipFill>
        <p:spPr>
          <a:xfrm xmlns:a="http://schemas.openxmlformats.org/drawingml/2006/main">
            <a:off x="897731" y="1381125"/>
            <a:ext cx="6472238" cy="431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A517A-3262-4C58-B165-16DBF6F7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00200"/>
            <a:ext cx="365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E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87E83"/>
                </a:solidFill>
                <a:latin typeface="Meiryo"/>
                <a:ea typeface="Meiryo"/>
                <a:cs typeface="Meiryo"/>
              </a:rPr>
              <a:t>補助情報なし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FC2D2-AC23-4900-A05B-75E1A180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76525"/>
            <a:ext cx="365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C41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42C41"/>
                </a:solidFill>
                <a:latin typeface="Meiryo"/>
                <a:ea typeface="Meiryo"/>
                <a:cs typeface="Meiryo"/>
              </a:rPr>
              <a:t>時間表示停止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F3E6E-6321-450E-8481-A7093940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95775"/>
            <a:ext cx="3657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現地の信号・警報と</a:t>
            </a:r>
          </a:p>
          <a:p xmlns:a="http://schemas.openxmlformats.org/drawingml/2006/main">
            <a:pPr>
              <a:defRPr sz="180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通常の一時停止義務に従う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4489E-6CBA-4333-91AC-34BF1A02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9607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496074"/>
                </a:solidFill>
                <a:latin typeface="Meiryo"/>
                <a:ea typeface="Meiryo"/>
                <a:cs typeface="Meiryo"/>
              </a:rPr>
              <a:t>AI生成の将来構想。色に加えて行動を文字で表示。実運用には関係機関との制度・安全面の合意が必要。</a:t>
            </a:r>
          </a:p>
        </p:txBody>
      </p:sp>
    </p:spTree>
    <p:extLst>
      <p:ext uri="{BB962C8B-B14F-4D97-AF65-F5344CB8AC3E}">
        <p14:creationId xmlns:p14="http://schemas.microsoft.com/office/powerpoint/2010/main" val="16503398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2026-10-11T01:26:58.7230000Z</dcterms:created>
  <dcterms:modified xsi:type="dcterms:W3CDTF">2026-10-11T01:26:58.7230000Z</dcterms:modified>
</coreProperties>
</file>